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8.png" ContentType="image/png"/>
  <Override PartName="/ppt/media/image27.png" ContentType="image/png"/>
  <Override PartName="/ppt/media/image24.png" ContentType="image/png"/>
  <Override PartName="/ppt/media/image23.png" ContentType="image/png"/>
  <Override PartName="/ppt/media/image19.png" ContentType="image/png"/>
  <Override PartName="/ppt/media/image2.png" ContentType="image/png"/>
  <Override PartName="/ppt/media/image25.png" ContentType="image/png"/>
  <Override PartName="/ppt/media/image22.png" ContentType="image/png"/>
  <Override PartName="/ppt/media/image1.jpeg" ContentType="image/jpeg"/>
  <Override PartName="/ppt/media/image17.png" ContentType="image/png"/>
  <Override PartName="/ppt/media/image31.png" ContentType="image/png"/>
  <Override PartName="/ppt/media/image12.png" ContentType="image/png"/>
  <Override PartName="/ppt/media/image21.png" ContentType="image/png"/>
  <Override PartName="/ppt/media/image30.png" ContentType="image/png"/>
  <Override PartName="/ppt/media/image32.png" ContentType="image/png"/>
  <Override PartName="/ppt/media/image16.png" ContentType="image/png"/>
  <Override PartName="/ppt/media/image29.png" ContentType="image/png"/>
  <Override PartName="/ppt/media/image35.jpeg" ContentType="image/jpeg"/>
  <Override PartName="/ppt/media/image13.png" ContentType="image/png"/>
  <Override PartName="/ppt/media/image38.png" ContentType="image/png"/>
  <Override PartName="/ppt/media/image8.png" ContentType="image/png"/>
  <Override PartName="/ppt/media/image20.png" ContentType="image/png"/>
  <Override PartName="/ppt/media/image9.png" ContentType="image/png"/>
  <Override PartName="/ppt/media/image18.png" ContentType="image/png"/>
  <Override PartName="/ppt/media/image26.png" ContentType="image/png"/>
  <Override PartName="/ppt/media/image11.png" ContentType="image/png"/>
  <Override PartName="/ppt/media/image6.jpeg" ContentType="image/jpeg"/>
  <Override PartName="/ppt/media/image5.png" ContentType="image/png"/>
  <Override PartName="/ppt/media/image4.jpeg" ContentType="image/jpeg"/>
  <Override PartName="/ppt/media/image33.png" ContentType="image/png"/>
  <Override PartName="/ppt/media/image37.jpeg" ContentType="image/jpeg"/>
  <Override PartName="/ppt/media/image3.jpeg" ContentType="image/jpeg"/>
  <Override PartName="/ppt/media/image34.jpeg" ContentType="image/jpeg"/>
  <Override PartName="/ppt/media/image36.jpeg" ContentType="image/jpeg"/>
  <Override PartName="/ppt/media/image14.png" ContentType="image/png"/>
  <Override PartName="/ppt/media/image15.png" ContentType="image/png"/>
  <Override PartName="/ppt/media/image7.png" ContentType="image/png"/>
  <Override PartName="/ppt/media/image10.png" ContentType="image/png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2CF216-8F3F-4734-940F-48CF019D501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62B050-F8AF-43D4-BB1F-54FA5C44E6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F9152B-01A9-4BA5-B9A4-0B5AD0AEF3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589DC5-1F62-4AAA-8255-C90352D9967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CF04A7-7818-4395-ADC3-68889BB7DA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67E3CF-C077-4BED-A431-F551D67007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B0500B-493A-423B-A10C-1982734B19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2648A3-4E1C-4FB8-8EF0-DEC3842F08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2FF91C-A2F5-4337-8E03-94372E96AB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EACDD3-FE37-4730-9B50-FB0FDF7C60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46B8AC-2B3A-484D-A676-D52DE424420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38751C-703E-418F-8BF9-3A381F468FC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57D3CB-33F5-4C6B-B6B8-80A6C3C62AF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0EE724-EDE8-429F-9C9D-DDBF1F4211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E22BD7-5F94-4A48-B809-924D8A5041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E63A37-FBEA-40D1-AB76-0674F5542C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4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4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1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4.jpeg"/><Relationship Id="rId5" Type="http://schemas.openxmlformats.org/officeDocument/2006/relationships/image" Target="../media/image35.jpeg"/><Relationship Id="rId6" Type="http://schemas.openxmlformats.org/officeDocument/2006/relationships/image" Target="../media/image36.jpeg"/><Relationship Id="rId7" Type="http://schemas.openxmlformats.org/officeDocument/2006/relationships/image" Target="../media/image3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2920" cy="318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3657600" y="2753640"/>
            <a:ext cx="228564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2425320" y="2186280"/>
            <a:ext cx="4292640" cy="360"/>
          </a:xfrm>
          <a:custGeom>
            <a:avLst/>
            <a:gdLst>
              <a:gd name="textAreaLeft" fmla="*/ 0 w 4292640"/>
              <a:gd name="textAreaRight" fmla="*/ 4293720 w 429264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4293704" h="0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32720" y="1401840"/>
            <a:ext cx="82774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b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3459" spc="71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Network Security Analysis </a:t>
            </a:r>
            <a:endParaRPr b="0" lang="en-US" sz="34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0" y="2179080"/>
            <a:ext cx="9142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580" strike="noStrike" u="none">
                <a:solidFill>
                  <a:srgbClr val="002d96"/>
                </a:solidFill>
                <a:effectLst/>
                <a:uFillTx/>
                <a:latin typeface="Noto Sans"/>
                <a:ea typeface="Noto Sans"/>
              </a:rPr>
              <a:t>Detecting Cyber Threats Automatically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2182680" y="344880"/>
            <a:ext cx="477720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4030" strike="noStrike" u="none">
                <a:solidFill>
                  <a:srgbClr val="4454df"/>
                </a:solidFill>
                <a:effectLst/>
                <a:uFillTx/>
                <a:latin typeface="Noto Sans"/>
                <a:ea typeface="Noto Sans"/>
              </a:rPr>
              <a:t>CONTENT</a:t>
            </a:r>
            <a:endParaRPr b="0" lang="en-US" sz="4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1266480" y="1630080"/>
            <a:ext cx="333504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Network Security Analysis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707760" y="1524960"/>
            <a:ext cx="71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01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099400" y="1643760"/>
            <a:ext cx="3335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Data Exploration Insights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541040" y="1524960"/>
            <a:ext cx="71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02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267200" y="2335320"/>
            <a:ext cx="333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Machine Learning Results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07760" y="2216160"/>
            <a:ext cx="71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03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63320" y="1959120"/>
            <a:ext cx="522000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59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Network Security Analysis</a:t>
            </a:r>
            <a:endParaRPr b="0" lang="en-US" sz="25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2"/>
          <a:stretch/>
        </p:blipFill>
        <p:spPr>
          <a:xfrm>
            <a:off x="463320" y="438120"/>
            <a:ext cx="912960" cy="9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1"/>
          <p:cNvSpPr/>
          <p:nvPr/>
        </p:nvSpPr>
        <p:spPr>
          <a:xfrm>
            <a:off x="345240" y="741960"/>
            <a:ext cx="135540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3890" strike="noStrike" u="none">
                <a:solidFill>
                  <a:srgbClr val="5196ff"/>
                </a:solidFill>
                <a:effectLst/>
                <a:uFillTx/>
                <a:latin typeface="Noto Sans"/>
                <a:ea typeface="Noto Sans"/>
              </a:rPr>
              <a:t>01</a:t>
            </a:r>
            <a:endParaRPr b="0" lang="en-US" sz="38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Normal vs Attack Traffic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Image 2" descr="https://oceandoc-ai.obs.ap-southeast-3.myhuaweicloud.com:443/image_1765014271456_93TfEJ.jpg"/>
          <p:cNvPicPr/>
          <p:nvPr/>
        </p:nvPicPr>
        <p:blipFill>
          <a:blip r:embed="rId4"/>
          <a:srcRect l="28667" t="0" r="28667" b="0"/>
          <a:stretch/>
        </p:blipFill>
        <p:spPr>
          <a:xfrm>
            <a:off x="3509640" y="708480"/>
            <a:ext cx="2116440" cy="381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2"/>
          <p:cNvSpPr/>
          <p:nvPr/>
        </p:nvSpPr>
        <p:spPr>
          <a:xfrm>
            <a:off x="287280" y="974880"/>
            <a:ext cx="311400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Traffic Distribution Analysis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287280" y="1551600"/>
            <a:ext cx="311400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Significant imbalance between normal network connections and attack traffic detected in the dataset.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5731560" y="974880"/>
            <a:ext cx="312408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Detection Implications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5731560" y="1551600"/>
            <a:ext cx="312408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Imbalanced distribution affects security monitoring strategies and requires specialized detection approaches for comprehensive protection.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287280" y="2931480"/>
            <a:ext cx="311400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Attack Prevalence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288000" y="3484800"/>
            <a:ext cx="311400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Visual representation shows attack traffic comprises substantial portion of network activity requiring immediate attention.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5731560" y="2931480"/>
            <a:ext cx="312408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Traffic Pattern Recognition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5731560" y="3484800"/>
            <a:ext cx="312408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Understanding normal vs attack patterns helps establish baseline behavior for more effective anomaly detection.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025360" y="777960"/>
            <a:ext cx="5101200" cy="359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Attack Categories Distribution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Shape 2"/>
          <p:cNvSpPr/>
          <p:nvPr/>
        </p:nvSpPr>
        <p:spPr>
          <a:xfrm>
            <a:off x="5862600" y="957240"/>
            <a:ext cx="502200" cy="502200"/>
          </a:xfrm>
          <a:custGeom>
            <a:avLst/>
            <a:gdLst>
              <a:gd name="textAreaLeft" fmla="*/ 0 w 502200"/>
              <a:gd name="textAreaRight" fmla="*/ 503280 w 502200"/>
              <a:gd name="textAreaTop" fmla="*/ 0 h 502200"/>
              <a:gd name="textAreaBottom" fmla="*/ 503280 h 502200"/>
            </a:gdLst>
            <a:ahLst/>
            <a:cxnLst/>
            <a:rect l="textAreaLeft" t="textAreaTop" r="textAreaRight" b="textAreaBottom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19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2" descr="https://oceandoc-ai.obs.ap-southeast-3.myhuaweicloud.com/ppt_list_page/_19052329831_uTDMEZ1732514694176-08056073287339853.png?authorization=c2ltcGxlLWp3dCBhaz1zcGFya2Rlc2s4MDAwMDAwMDAwMDE7ZXhwPTMzMDkzMTQ3MDE7YWxnbz1obWFjLXNoYTI1NjtzaWc9ekxLaW9idTh2eEdNdzVVV0xXSXNsYzJWUFNzaGNESml5ZzJnNUdKZHNKQT0=&amp;x_location=7YfmxI7B7uKO7jlRxIftd60XeLD="/>
          <p:cNvPicPr/>
          <p:nvPr/>
        </p:nvPicPr>
        <p:blipFill>
          <a:blip r:embed="rId4"/>
          <a:stretch/>
        </p:blipFill>
        <p:spPr>
          <a:xfrm>
            <a:off x="5957280" y="1051920"/>
            <a:ext cx="312840" cy="31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Shape 3"/>
          <p:cNvSpPr/>
          <p:nvPr/>
        </p:nvSpPr>
        <p:spPr>
          <a:xfrm>
            <a:off x="5862600" y="3729960"/>
            <a:ext cx="502200" cy="502200"/>
          </a:xfrm>
          <a:custGeom>
            <a:avLst/>
            <a:gdLst>
              <a:gd name="textAreaLeft" fmla="*/ 0 w 502200"/>
              <a:gd name="textAreaRight" fmla="*/ 503280 w 502200"/>
              <a:gd name="textAreaTop" fmla="*/ 0 h 502200"/>
              <a:gd name="textAreaBottom" fmla="*/ 503280 h 502200"/>
            </a:gdLst>
            <a:ahLst/>
            <a:cxnLst/>
            <a:rect l="textAreaLeft" t="textAreaTop" r="textAreaRight" b="textAreaBottom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19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3" descr="https://oceandoc-ai.obs.ap-southeast-3.myhuaweicloud.com/ppt_list_page/_19052329831_y63oFi1732514699286-07869239987903869.png?authorization=c2ltcGxlLWp3dCBhaz1zcGFya2Rlc2s4MDAwMDAwMDAwMDE7ZXhwPTMzMDkzMTQ3MDY7YWxnbz1obWFjLXNoYTI1NjtzaWc9eXd1OXk4NisvcExnV3NOUmVIdHd4RzRKcnJCUkhYM3VxdStpUzJUTVI4RT0=&amp;x_location=7YfmxI7B7uKO7jlRxIftd60XeLD="/>
          <p:cNvPicPr/>
          <p:nvPr/>
        </p:nvPicPr>
        <p:blipFill>
          <a:blip r:embed="rId5"/>
          <a:stretch/>
        </p:blipFill>
        <p:spPr>
          <a:xfrm>
            <a:off x="5969520" y="3836520"/>
            <a:ext cx="288720" cy="28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Shape 4"/>
          <p:cNvSpPr/>
          <p:nvPr/>
        </p:nvSpPr>
        <p:spPr>
          <a:xfrm>
            <a:off x="2696400" y="3729960"/>
            <a:ext cx="502200" cy="502200"/>
          </a:xfrm>
          <a:custGeom>
            <a:avLst/>
            <a:gdLst>
              <a:gd name="textAreaLeft" fmla="*/ 0 w 502200"/>
              <a:gd name="textAreaRight" fmla="*/ 503280 w 502200"/>
              <a:gd name="textAreaTop" fmla="*/ 0 h 502200"/>
              <a:gd name="textAreaBottom" fmla="*/ 503280 h 502200"/>
            </a:gdLst>
            <a:ahLst/>
            <a:cxnLst/>
            <a:rect l="textAreaLeft" t="textAreaTop" r="textAreaRight" b="textAreaBottom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4" descr="https://oceandoc-ai.obs.ap-southeast-3.myhuaweicloud.com/ppt_list_page/_19052329831_LCg0aP1732514685662-0536160787312864.png?authorization=c2ltcGxlLWp3dCBhaz1zcGFya2Rlc2s4MDAwMDAwMDAwMDE7ZXhwPTMzMDkzMTQ2OTQ7YWxnbz1obWFjLXNoYTI1NjtzaWc9T3hwcDhvbUw1WGhtUVRNQ050c1pjQVc1cWxOTWQzT3FCQitYeVFiM1pxVT0=&amp;x_location=7YfmxI7B7uKO7jlRxIftd60XeLD="/>
          <p:cNvPicPr/>
          <p:nvPr/>
        </p:nvPicPr>
        <p:blipFill>
          <a:blip r:embed="rId6"/>
          <a:stretch/>
        </p:blipFill>
        <p:spPr>
          <a:xfrm>
            <a:off x="2799360" y="3832560"/>
            <a:ext cx="296640" cy="29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hape 5"/>
          <p:cNvSpPr/>
          <p:nvPr/>
        </p:nvSpPr>
        <p:spPr>
          <a:xfrm>
            <a:off x="2696400" y="957240"/>
            <a:ext cx="502200" cy="502200"/>
          </a:xfrm>
          <a:custGeom>
            <a:avLst/>
            <a:gdLst>
              <a:gd name="textAreaLeft" fmla="*/ 0 w 502200"/>
              <a:gd name="textAreaRight" fmla="*/ 503280 w 502200"/>
              <a:gd name="textAreaTop" fmla="*/ 0 h 502200"/>
              <a:gd name="textAreaBottom" fmla="*/ 503280 h 502200"/>
            </a:gdLst>
            <a:ahLst/>
            <a:cxnLst/>
            <a:rect l="textAreaLeft" t="textAreaTop" r="textAreaRight" b="textAreaBottom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5" descr="preencoded.png"/>
          <p:cNvPicPr/>
          <p:nvPr/>
        </p:nvPicPr>
        <p:blipFill>
          <a:blip r:embed="rId7"/>
          <a:stretch/>
        </p:blipFill>
        <p:spPr>
          <a:xfrm>
            <a:off x="2806560" y="1067400"/>
            <a:ext cx="282240" cy="28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Image 6" descr="preencoded.png"/>
          <p:cNvPicPr/>
          <p:nvPr/>
        </p:nvPicPr>
        <p:blipFill>
          <a:blip r:embed="rId8"/>
          <a:stretch/>
        </p:blipFill>
        <p:spPr>
          <a:xfrm>
            <a:off x="2611440" y="2679480"/>
            <a:ext cx="2098440" cy="10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Image 7" descr="preencoded.png"/>
          <p:cNvPicPr/>
          <p:nvPr/>
        </p:nvPicPr>
        <p:blipFill>
          <a:blip r:embed="rId9"/>
          <a:stretch/>
        </p:blipFill>
        <p:spPr>
          <a:xfrm flipH="1" rot="10800000">
            <a:off x="2611440" y="1688760"/>
            <a:ext cx="2098440" cy="10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Image 8" descr="preencoded.png"/>
          <p:cNvPicPr/>
          <p:nvPr/>
        </p:nvPicPr>
        <p:blipFill>
          <a:blip r:embed="rId10"/>
          <a:stretch/>
        </p:blipFill>
        <p:spPr>
          <a:xfrm>
            <a:off x="4399200" y="2679480"/>
            <a:ext cx="2098440" cy="104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6"/>
          <p:cNvSpPr/>
          <p:nvPr/>
        </p:nvSpPr>
        <p:spPr>
          <a:xfrm>
            <a:off x="2775600" y="2284560"/>
            <a:ext cx="5828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58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2775600" y="2692440"/>
            <a:ext cx="5828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03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5878440" y="2692440"/>
            <a:ext cx="5828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729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04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9" descr="preencoded.png"/>
          <p:cNvPicPr/>
          <p:nvPr/>
        </p:nvPicPr>
        <p:blipFill>
          <a:blip r:embed="rId11"/>
          <a:stretch/>
        </p:blipFill>
        <p:spPr>
          <a:xfrm rot="10800000">
            <a:off x="4400280" y="1688760"/>
            <a:ext cx="2098440" cy="104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9"/>
          <p:cNvSpPr/>
          <p:nvPr/>
        </p:nvSpPr>
        <p:spPr>
          <a:xfrm>
            <a:off x="5905800" y="2272320"/>
            <a:ext cx="5828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247680" y="957240"/>
            <a:ext cx="24253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Attack Types Overview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247680" y="1461960"/>
            <a:ext cx="24253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Analysis reveals diverse attack categories in network traffic data.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247680" y="3052440"/>
            <a:ext cx="24253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Most Common Attacks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247680" y="3531240"/>
            <a:ext cx="24253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Generic, Exploits and DoS attacks appear most frequently in the dataset.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6365880" y="957240"/>
            <a:ext cx="252936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Attack vs Normal Traffic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6365880" y="1461960"/>
            <a:ext cx="25293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Visual comparison shows proportion of malicious versus legitimate network connections.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6370920" y="3052440"/>
            <a:ext cx="25243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Security Implications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6365880" y="3531240"/>
            <a:ext cx="25293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Understanding attack distribution helps prioritize defense mechanisms and resource allocation.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301680" y="425880"/>
            <a:ext cx="8548560" cy="429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Protocol Usage Patterns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Image 2" descr="preencoded.png"/>
          <p:cNvPicPr/>
          <p:nvPr/>
        </p:nvPicPr>
        <p:blipFill>
          <a:blip r:embed="rId4"/>
          <a:stretch/>
        </p:blipFill>
        <p:spPr>
          <a:xfrm>
            <a:off x="269280" y="981360"/>
            <a:ext cx="4214160" cy="172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 3" descr="preencoded.png"/>
          <p:cNvPicPr/>
          <p:nvPr/>
        </p:nvPicPr>
        <p:blipFill>
          <a:blip r:embed="rId5"/>
          <a:stretch/>
        </p:blipFill>
        <p:spPr>
          <a:xfrm>
            <a:off x="269280" y="2174400"/>
            <a:ext cx="4214160" cy="5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 4" descr="preencoded.png"/>
          <p:cNvPicPr/>
          <p:nvPr/>
        </p:nvPicPr>
        <p:blipFill>
          <a:blip r:embed="rId6"/>
          <a:stretch/>
        </p:blipFill>
        <p:spPr>
          <a:xfrm>
            <a:off x="409320" y="10425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 5" descr="preencoded.png"/>
          <p:cNvPicPr/>
          <p:nvPr/>
        </p:nvPicPr>
        <p:blipFill>
          <a:blip r:embed="rId7">
            <a:alphaModFix amt="40000"/>
          </a:blip>
          <a:stretch/>
        </p:blipFill>
        <p:spPr>
          <a:xfrm>
            <a:off x="579960" y="10425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 6" descr="preencoded.png"/>
          <p:cNvPicPr/>
          <p:nvPr/>
        </p:nvPicPr>
        <p:blipFill>
          <a:blip r:embed="rId8"/>
          <a:stretch/>
        </p:blipFill>
        <p:spPr>
          <a:xfrm>
            <a:off x="4649400" y="981360"/>
            <a:ext cx="4214160" cy="172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Image 7" descr="preencoded.png"/>
          <p:cNvPicPr/>
          <p:nvPr/>
        </p:nvPicPr>
        <p:blipFill>
          <a:blip r:embed="rId9"/>
          <a:stretch/>
        </p:blipFill>
        <p:spPr>
          <a:xfrm>
            <a:off x="4649400" y="2174400"/>
            <a:ext cx="4214160" cy="5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Image 8" descr="preencoded.png"/>
          <p:cNvPicPr/>
          <p:nvPr/>
        </p:nvPicPr>
        <p:blipFill>
          <a:blip r:embed="rId10"/>
          <a:stretch/>
        </p:blipFill>
        <p:spPr>
          <a:xfrm>
            <a:off x="4789080" y="10425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 9" descr="preencoded.png"/>
          <p:cNvPicPr/>
          <p:nvPr/>
        </p:nvPicPr>
        <p:blipFill>
          <a:blip r:embed="rId11">
            <a:alphaModFix amt="40000"/>
          </a:blip>
          <a:stretch/>
        </p:blipFill>
        <p:spPr>
          <a:xfrm>
            <a:off x="4960080" y="10425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 10" descr="preencoded.png"/>
          <p:cNvPicPr/>
          <p:nvPr/>
        </p:nvPicPr>
        <p:blipFill>
          <a:blip r:embed="rId12"/>
          <a:stretch/>
        </p:blipFill>
        <p:spPr>
          <a:xfrm>
            <a:off x="269280" y="2950560"/>
            <a:ext cx="4214160" cy="172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 11" descr="preencoded.png"/>
          <p:cNvPicPr/>
          <p:nvPr/>
        </p:nvPicPr>
        <p:blipFill>
          <a:blip r:embed="rId13"/>
          <a:stretch/>
        </p:blipFill>
        <p:spPr>
          <a:xfrm>
            <a:off x="269280" y="4143960"/>
            <a:ext cx="4214160" cy="5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mage 12" descr="preencoded.png"/>
          <p:cNvPicPr/>
          <p:nvPr/>
        </p:nvPicPr>
        <p:blipFill>
          <a:blip r:embed="rId14"/>
          <a:stretch/>
        </p:blipFill>
        <p:spPr>
          <a:xfrm>
            <a:off x="409320" y="30117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 13" descr="preencoded.png"/>
          <p:cNvPicPr/>
          <p:nvPr/>
        </p:nvPicPr>
        <p:blipFill>
          <a:blip r:embed="rId15">
            <a:alphaModFix amt="40000"/>
          </a:blip>
          <a:stretch/>
        </p:blipFill>
        <p:spPr>
          <a:xfrm>
            <a:off x="579960" y="30117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 14" descr="preencoded.png"/>
          <p:cNvPicPr/>
          <p:nvPr/>
        </p:nvPicPr>
        <p:blipFill>
          <a:blip r:embed="rId16"/>
          <a:stretch/>
        </p:blipFill>
        <p:spPr>
          <a:xfrm>
            <a:off x="4649400" y="2950560"/>
            <a:ext cx="4214160" cy="172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 15" descr="preencoded.png"/>
          <p:cNvPicPr/>
          <p:nvPr/>
        </p:nvPicPr>
        <p:blipFill>
          <a:blip r:embed="rId17"/>
          <a:stretch/>
        </p:blipFill>
        <p:spPr>
          <a:xfrm>
            <a:off x="4649400" y="4143960"/>
            <a:ext cx="4214160" cy="5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Image 16" descr="preencoded.png"/>
          <p:cNvPicPr/>
          <p:nvPr/>
        </p:nvPicPr>
        <p:blipFill>
          <a:blip r:embed="rId18"/>
          <a:stretch/>
        </p:blipFill>
        <p:spPr>
          <a:xfrm>
            <a:off x="4789080" y="30117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Image 17" descr="preencoded.png"/>
          <p:cNvPicPr/>
          <p:nvPr/>
        </p:nvPicPr>
        <p:blipFill>
          <a:blip r:embed="rId19">
            <a:alphaModFix amt="40000"/>
          </a:blip>
          <a:stretch/>
        </p:blipFill>
        <p:spPr>
          <a:xfrm>
            <a:off x="4960080" y="3011760"/>
            <a:ext cx="449640" cy="18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"/>
          <p:cNvSpPr/>
          <p:nvPr/>
        </p:nvSpPr>
        <p:spPr>
          <a:xfrm>
            <a:off x="356760" y="2174400"/>
            <a:ext cx="403920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Top 15 Protocols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361800" y="1197000"/>
            <a:ext cx="40287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Analysis reveals most frequently used network protocols, displayed in descending order for better visibility.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4736880" y="2174400"/>
            <a:ext cx="403920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Protocol Distribution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4741920" y="1197000"/>
            <a:ext cx="40287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Chart shows varying usage patterns across different protocols, with some clearly dominating network traffic.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356760" y="4143960"/>
            <a:ext cx="403920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Security Implications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361800" y="3166560"/>
            <a:ext cx="40287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Protocol preferences may indicate normal operations or potential security concerns requiring further investigation.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4736880" y="4143960"/>
            <a:ext cx="403920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Traffic Analysis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4741920" y="3166560"/>
            <a:ext cx="40287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Understanding protocol distribution helps identify unusual patterns that could signal network intrusions.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54720" y="334440"/>
            <a:ext cx="9042120" cy="447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63320" y="1959120"/>
            <a:ext cx="522000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59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Data Exploration Insights</a:t>
            </a:r>
            <a:endParaRPr b="0" lang="en-US" sz="25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preencoded.png"/>
          <p:cNvPicPr/>
          <p:nvPr/>
        </p:nvPicPr>
        <p:blipFill>
          <a:blip r:embed="rId2"/>
          <a:stretch/>
        </p:blipFill>
        <p:spPr>
          <a:xfrm>
            <a:off x="463320" y="438120"/>
            <a:ext cx="912960" cy="9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1"/>
          <p:cNvSpPr/>
          <p:nvPr/>
        </p:nvSpPr>
        <p:spPr>
          <a:xfrm>
            <a:off x="345240" y="741960"/>
            <a:ext cx="135540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3890" strike="noStrike" u="none">
                <a:solidFill>
                  <a:srgbClr val="5196ff"/>
                </a:solidFill>
                <a:effectLst/>
                <a:uFillTx/>
                <a:latin typeface="Noto Sans"/>
                <a:ea typeface="Noto Sans"/>
              </a:rPr>
              <a:t>02</a:t>
            </a:r>
            <a:endParaRPr b="0" lang="en-US" sz="38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Key Statistical Findings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Shape 2"/>
          <p:cNvSpPr/>
          <p:nvPr/>
        </p:nvSpPr>
        <p:spPr>
          <a:xfrm>
            <a:off x="3496320" y="2983680"/>
            <a:ext cx="2596320" cy="1622160"/>
          </a:xfrm>
          <a:custGeom>
            <a:avLst/>
            <a:gdLst>
              <a:gd name="textAreaLeft" fmla="*/ 0 w 2596320"/>
              <a:gd name="textAreaRight" fmla="*/ 2597400 w 2596320"/>
              <a:gd name="textAreaTop" fmla="*/ 0 h 1622160"/>
              <a:gd name="textAreaBottom" fmla="*/ 1623240 h 1622160"/>
            </a:gdLst>
            <a:ahLst/>
            <a:cxnLst/>
            <a:rect l="textAreaLeft" t="textAreaTop" r="textAreaRight" b="textAreaBottom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6290640" y="1148040"/>
            <a:ext cx="2596320" cy="1622160"/>
          </a:xfrm>
          <a:custGeom>
            <a:avLst/>
            <a:gdLst>
              <a:gd name="textAreaLeft" fmla="*/ 0 w 2596320"/>
              <a:gd name="textAreaRight" fmla="*/ 2597400 w 2596320"/>
              <a:gd name="textAreaTop" fmla="*/ 0 h 1622160"/>
              <a:gd name="textAreaBottom" fmla="*/ 1623240 h 1622160"/>
            </a:gdLst>
            <a:ahLst/>
            <a:cxnLst/>
            <a:rect l="textAreaLeft" t="textAreaTop" r="textAreaRight" b="textAreaBottom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255960" y="1148040"/>
            <a:ext cx="3035520" cy="3436920"/>
          </a:xfrm>
          <a:custGeom>
            <a:avLst/>
            <a:gdLst>
              <a:gd name="textAreaLeft" fmla="*/ 0 w 3035520"/>
              <a:gd name="textAreaRight" fmla="*/ 3036600 w 3035520"/>
              <a:gd name="textAreaTop" fmla="*/ 0 h 3436920"/>
              <a:gd name="textAreaBottom" fmla="*/ 3438000 h 3436920"/>
            </a:gdLst>
            <a:ahLst/>
            <a:cxnLst/>
            <a:rect l="textAreaLeft" t="textAreaTop" r="textAreaRight" b="textAreaBottom"/>
            <a:pathLst>
              <a:path w="3036722" h="3438144">
                <a:moveTo>
                  <a:pt x="0" y="0"/>
                </a:moveTo>
                <a:moveTo>
                  <a:pt x="0" y="0"/>
                </a:moveTo>
                <a:lnTo>
                  <a:pt x="3036722" y="0"/>
                </a:lnTo>
                <a:lnTo>
                  <a:pt x="3036722" y="3438144"/>
                </a:lnTo>
                <a:lnTo>
                  <a:pt x="0" y="3438144"/>
                </a:lnTo>
                <a:close/>
              </a:path>
            </a:pathLst>
          </a:custGeom>
          <a:noFill/>
          <a:ln w="9525">
            <a:solidFill>
              <a:srgbClr val="5049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388800" y="2877480"/>
            <a:ext cx="2697840" cy="360"/>
          </a:xfrm>
          <a:custGeom>
            <a:avLst/>
            <a:gdLst>
              <a:gd name="textAreaLeft" fmla="*/ 0 w 2697840"/>
              <a:gd name="textAreaRight" fmla="*/ 2698920 w 269784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699034" h="0">
                <a:moveTo>
                  <a:pt x="0" y="0"/>
                </a:moveTo>
                <a:moveTo>
                  <a:pt x="0" y="0"/>
                </a:moveTo>
                <a:lnTo>
                  <a:pt x="2699034" y="0"/>
                </a:lnTo>
              </a:path>
            </a:pathLst>
          </a:custGeom>
          <a:noFill/>
          <a:ln w="9525">
            <a:solidFill>
              <a:srgbClr val="5049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325440" y="1266120"/>
            <a:ext cx="28213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Normal vs Attack Traffic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325440" y="1629360"/>
            <a:ext cx="287244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Dataset shows significant imbalance between normal connections and attack instances across network traffic.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325440" y="3129480"/>
            <a:ext cx="28213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Top Attack Categories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3" descr="https://oceandoc-ai.obs.ap-southeast-3.myhuaweicloud.com:443/image_1765014278214_hMD7p2.jpg"/>
          <p:cNvPicPr/>
          <p:nvPr/>
        </p:nvPicPr>
        <p:blipFill>
          <a:blip r:embed="rId4"/>
          <a:srcRect l="0" t="21956" r="0" b="21956"/>
          <a:stretch/>
        </p:blipFill>
        <p:spPr>
          <a:xfrm>
            <a:off x="6290640" y="2983680"/>
            <a:ext cx="2596320" cy="162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9"/>
          <p:cNvSpPr/>
          <p:nvPr/>
        </p:nvSpPr>
        <p:spPr>
          <a:xfrm>
            <a:off x="325440" y="3477240"/>
            <a:ext cx="287244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Analysis reveals several attack types with varying frequencies, highlighting common network threats.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3555720" y="3175200"/>
            <a:ext cx="23817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Protocol Distribution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3555720" y="3522960"/>
            <a:ext cx="238176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Certain protocols appear more frequently, potentially indicating preferred channels for network communication.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6397920" y="1357560"/>
            <a:ext cx="23817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Feature Correlation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6397920" y="1684440"/>
            <a:ext cx="238176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Strong relationships exist between specific network attributes and attack detection, guiding security focus areas.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5"/>
          <a:stretch/>
        </p:blipFill>
        <p:spPr>
          <a:xfrm>
            <a:off x="3657600" y="1143000"/>
            <a:ext cx="2286000" cy="182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Feature Correlations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Shape 2"/>
          <p:cNvSpPr/>
          <p:nvPr/>
        </p:nvSpPr>
        <p:spPr>
          <a:xfrm>
            <a:off x="284400" y="2935080"/>
            <a:ext cx="2850120" cy="547560"/>
          </a:xfrm>
          <a:custGeom>
            <a:avLst/>
            <a:gdLst>
              <a:gd name="textAreaLeft" fmla="*/ 0 w 2850120"/>
              <a:gd name="textAreaRight" fmla="*/ 2851200 w 2850120"/>
              <a:gd name="textAreaTop" fmla="*/ 0 h 547560"/>
              <a:gd name="textAreaBottom" fmla="*/ 548640 h 547560"/>
            </a:gdLst>
            <a:ahLst/>
            <a:cxnLst/>
            <a:rect l="textAreaLeft" t="textAreaTop" r="textAreaRight" b="textAreaBottom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3339360" y="2935440"/>
            <a:ext cx="2850120" cy="547560"/>
          </a:xfrm>
          <a:custGeom>
            <a:avLst/>
            <a:gdLst>
              <a:gd name="textAreaLeft" fmla="*/ 0 w 2850120"/>
              <a:gd name="textAreaRight" fmla="*/ 2851200 w 2850120"/>
              <a:gd name="textAreaTop" fmla="*/ 0 h 547560"/>
              <a:gd name="textAreaBottom" fmla="*/ 548640 h 547560"/>
            </a:gdLst>
            <a:ahLst/>
            <a:cxnLst/>
            <a:rect l="textAreaLeft" t="textAreaTop" r="textAreaRight" b="textAreaBottom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84400" y="994320"/>
            <a:ext cx="2850120" cy="547560"/>
          </a:xfrm>
          <a:custGeom>
            <a:avLst/>
            <a:gdLst>
              <a:gd name="textAreaLeft" fmla="*/ 0 w 2850120"/>
              <a:gd name="textAreaRight" fmla="*/ 2851200 w 2850120"/>
              <a:gd name="textAreaTop" fmla="*/ 0 h 547560"/>
              <a:gd name="textAreaBottom" fmla="*/ 548640 h 547560"/>
            </a:gdLst>
            <a:ahLst/>
            <a:cxnLst/>
            <a:rect l="textAreaLeft" t="textAreaTop" r="textAreaRight" b="textAreaBottom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3339360" y="995040"/>
            <a:ext cx="2850120" cy="547560"/>
          </a:xfrm>
          <a:custGeom>
            <a:avLst/>
            <a:gdLst>
              <a:gd name="textAreaLeft" fmla="*/ 0 w 2850120"/>
              <a:gd name="textAreaRight" fmla="*/ 2851200 w 2850120"/>
              <a:gd name="textAreaTop" fmla="*/ 0 h 547560"/>
              <a:gd name="textAreaBottom" fmla="*/ 548640 h 547560"/>
            </a:gdLst>
            <a:ahLst/>
            <a:cxnLst/>
            <a:rect l="textAreaLeft" t="textAreaTop" r="textAreaRight" b="textAreaBottom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284760" y="1024200"/>
            <a:ext cx="28461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Correlation with Attack Labels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284760" y="1532880"/>
            <a:ext cx="284652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Numerical features show varying relationships with attack detection, helping identify key predictive variables.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3339000" y="1024200"/>
            <a:ext cx="2836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Redundancy Detection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3339000" y="1532880"/>
            <a:ext cx="283608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High correlation between features indicates potential data redundancy that can be eliminated for model efficiency.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284760" y="2964960"/>
            <a:ext cx="28461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Predictive Power Analysis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284760" y="3474000"/>
            <a:ext cx="284652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Strong correlations with target labels reveal which network metrics best detect suspicious activity.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3339000" y="2964960"/>
            <a:ext cx="2836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Heatmap Visualization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3339000" y="3474000"/>
            <a:ext cx="283608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Color-coded matrix displays correlation strength, highlighting most significant features for security monitoring.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685800" y="457200"/>
            <a:ext cx="7314480" cy="434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Traffic Pattern Anomalies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Image 2" descr="preencoded.png"/>
          <p:cNvPicPr/>
          <p:nvPr/>
        </p:nvPicPr>
        <p:blipFill>
          <a:blip r:embed="rId4">
            <a:alphaModFix amt="40000"/>
          </a:blip>
          <a:stretch/>
        </p:blipFill>
        <p:spPr>
          <a:xfrm>
            <a:off x="3085200" y="1107720"/>
            <a:ext cx="2972520" cy="322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Image 3" descr="preencoded.png"/>
          <p:cNvPicPr/>
          <p:nvPr/>
        </p:nvPicPr>
        <p:blipFill>
          <a:blip r:embed="rId5"/>
          <a:stretch/>
        </p:blipFill>
        <p:spPr>
          <a:xfrm>
            <a:off x="3085200" y="1107720"/>
            <a:ext cx="2972520" cy="322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"/>
          <p:cNvSpPr/>
          <p:nvPr/>
        </p:nvSpPr>
        <p:spPr>
          <a:xfrm>
            <a:off x="4227480" y="1634400"/>
            <a:ext cx="6876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729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One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4227480" y="2382480"/>
            <a:ext cx="6876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729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Two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4087800" y="3064680"/>
            <a:ext cx="9673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729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Three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4166280" y="3780720"/>
            <a:ext cx="8107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729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Four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269280" y="1320840"/>
            <a:ext cx="274896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Normal vs Attack Traffic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269280" y="1630440"/>
            <a:ext cx="274896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Dataset shows significant imbalance between normal connections and attack traffic, highlighting security monitoring challenges.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6124680" y="1320840"/>
            <a:ext cx="275976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Attack Categories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6124680" y="1630440"/>
            <a:ext cx="275976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Multiple attack types identified, with certain categories appearing more frequently in network traffic analysis.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269280" y="3012840"/>
            <a:ext cx="274896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Protocol Distribution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269280" y="3332160"/>
            <a:ext cx="274896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Analysis reveals which protocols attackers target most frequently, helping prioritize security monitoring efforts.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6124680" y="3012840"/>
            <a:ext cx="275976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Traffic Anomaly Indicators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6124680" y="3332160"/>
            <a:ext cx="275976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Specific network behaviors and patterns serve as key indicators when identifying potential security threats.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63320" y="1959120"/>
            <a:ext cx="522000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59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Machine Learning Results</a:t>
            </a:r>
            <a:endParaRPr b="0" lang="en-US" sz="25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2"/>
          <a:stretch/>
        </p:blipFill>
        <p:spPr>
          <a:xfrm>
            <a:off x="463320" y="438120"/>
            <a:ext cx="912960" cy="9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1"/>
          <p:cNvSpPr/>
          <p:nvPr/>
        </p:nvSpPr>
        <p:spPr>
          <a:xfrm>
            <a:off x="345240" y="741960"/>
            <a:ext cx="135540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3890" strike="noStrike" u="none">
                <a:solidFill>
                  <a:srgbClr val="5196ff"/>
                </a:solidFill>
                <a:effectLst/>
                <a:uFillTx/>
                <a:latin typeface="Noto Sans"/>
                <a:ea typeface="Noto Sans"/>
              </a:rPr>
              <a:t>03</a:t>
            </a:r>
            <a:endParaRPr b="0" lang="en-US" sz="38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Model Performance Metrics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Image 2" descr="preencoded.png"/>
          <p:cNvPicPr/>
          <p:nvPr/>
        </p:nvPicPr>
        <p:blipFill>
          <a:blip r:embed="rId4"/>
          <a:stretch/>
        </p:blipFill>
        <p:spPr>
          <a:xfrm>
            <a:off x="837000" y="2227680"/>
            <a:ext cx="7468560" cy="114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Shape 2"/>
          <p:cNvSpPr/>
          <p:nvPr/>
        </p:nvSpPr>
        <p:spPr>
          <a:xfrm>
            <a:off x="1324800" y="3193920"/>
            <a:ext cx="181800" cy="181800"/>
          </a:xfrm>
          <a:custGeom>
            <a:avLst/>
            <a:gdLst>
              <a:gd name="textAreaLeft" fmla="*/ 0 w 181800"/>
              <a:gd name="textAreaRight" fmla="*/ 182880 w 181800"/>
              <a:gd name="textAreaTop" fmla="*/ 0 h 181800"/>
              <a:gd name="textAreaBottom" fmla="*/ 182880 h 181800"/>
            </a:gdLst>
            <a:ahLst/>
            <a:cxnLst/>
            <a:rect l="textAreaLeft" t="textAreaTop" r="textAreaRight" b="textAreaBottom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5049d5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273320" y="3394800"/>
            <a:ext cx="28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1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3370680" y="2955960"/>
            <a:ext cx="181800" cy="181800"/>
          </a:xfrm>
          <a:custGeom>
            <a:avLst/>
            <a:gdLst>
              <a:gd name="textAreaLeft" fmla="*/ 0 w 181800"/>
              <a:gd name="textAreaRight" fmla="*/ 182880 w 181800"/>
              <a:gd name="textAreaTop" fmla="*/ 0 h 181800"/>
              <a:gd name="textAreaBottom" fmla="*/ 182880 h 181800"/>
            </a:gdLst>
            <a:ahLst/>
            <a:cxnLst/>
            <a:rect l="textAreaLeft" t="textAreaTop" r="textAreaRight" b="textAreaBottom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5049d5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3319200" y="3157200"/>
            <a:ext cx="28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2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5518080" y="2246040"/>
            <a:ext cx="181800" cy="181800"/>
          </a:xfrm>
          <a:custGeom>
            <a:avLst/>
            <a:gdLst>
              <a:gd name="textAreaLeft" fmla="*/ 0 w 181800"/>
              <a:gd name="textAreaRight" fmla="*/ 182880 w 181800"/>
              <a:gd name="textAreaTop" fmla="*/ 0 h 181800"/>
              <a:gd name="textAreaBottom" fmla="*/ 182880 h 181800"/>
            </a:gdLst>
            <a:ahLst/>
            <a:cxnLst/>
            <a:rect l="textAreaLeft" t="textAreaTop" r="textAreaRight" b="textAreaBottom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5049d5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466600" y="2447280"/>
            <a:ext cx="28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7689240" y="2388960"/>
            <a:ext cx="181800" cy="181800"/>
          </a:xfrm>
          <a:custGeom>
            <a:avLst/>
            <a:gdLst>
              <a:gd name="textAreaLeft" fmla="*/ 0 w 181800"/>
              <a:gd name="textAreaRight" fmla="*/ 182880 w 181800"/>
              <a:gd name="textAreaTop" fmla="*/ 0 h 181800"/>
              <a:gd name="textAreaBottom" fmla="*/ 182880 h 181800"/>
            </a:gdLst>
            <a:ahLst/>
            <a:cxnLst/>
            <a:rect l="textAreaLeft" t="textAreaTop" r="textAreaRight" b="textAreaBottom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5049d5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7637760" y="2590200"/>
            <a:ext cx="28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5049d5"/>
                </a:solidFill>
                <a:effectLst/>
                <a:uFillTx/>
                <a:latin typeface="Noto Sans SC"/>
                <a:ea typeface="Noto Sans SC"/>
              </a:rPr>
              <a:t>4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273960" y="1114560"/>
            <a:ext cx="1990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Classification Accuracy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2466000" y="815760"/>
            <a:ext cx="1990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Confusion Matrix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2466000" y="1368000"/>
            <a:ext cx="19908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Visual representation shows correct vs incorrect predictions, highlighting model's strong performance.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4650120" y="2899440"/>
            <a:ext cx="1990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Feature Importance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4650120" y="3451680"/>
            <a:ext cx="19908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Top 15 features identified as most critical for accurate attack detection.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6912720" y="3047400"/>
            <a:ext cx="1990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Detection Strengths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6912720" y="3599640"/>
            <a:ext cx="19908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Model excels at identifying specific attack categories while maintaining overall accuracy.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273960" y="1666800"/>
            <a:ext cx="19908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Model achieved high detection rates for network attacks with minimal false positives.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294120" y="360"/>
            <a:ext cx="8620560" cy="514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Confusion Matrix Analysis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Image 2" descr="preencoded.png"/>
          <p:cNvPicPr/>
          <p:nvPr/>
        </p:nvPicPr>
        <p:blipFill>
          <a:blip r:embed="rId4"/>
          <a:stretch/>
        </p:blipFill>
        <p:spPr>
          <a:xfrm>
            <a:off x="320760" y="1010520"/>
            <a:ext cx="3583440" cy="357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Image 3" descr="preencoded.png"/>
          <p:cNvPicPr/>
          <p:nvPr/>
        </p:nvPicPr>
        <p:blipFill>
          <a:blip r:embed="rId5">
            <a:alphaModFix amt="40000"/>
          </a:blip>
          <a:stretch/>
        </p:blipFill>
        <p:spPr>
          <a:xfrm>
            <a:off x="255960" y="1010520"/>
            <a:ext cx="3648240" cy="357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2"/>
          <p:cNvSpPr/>
          <p:nvPr/>
        </p:nvSpPr>
        <p:spPr>
          <a:xfrm>
            <a:off x="1730880" y="1560960"/>
            <a:ext cx="7628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1730880" y="2454480"/>
            <a:ext cx="7628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1730880" y="3221640"/>
            <a:ext cx="7628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03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1730880" y="4007160"/>
            <a:ext cx="7628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04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2599920" y="1041840"/>
            <a:ext cx="6287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Model Performance Visualization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2599920" y="1261080"/>
            <a:ext cx="62784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Visual representation of prediction accuracy showing true positives, false positives, true negatives and false negatives.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3053160" y="1919520"/>
            <a:ext cx="583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Detection Accuracy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9"/>
          <p:cNvSpPr/>
          <p:nvPr/>
        </p:nvSpPr>
        <p:spPr>
          <a:xfrm>
            <a:off x="3036600" y="2139120"/>
            <a:ext cx="584172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77400" bIns="77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Confusion matrix reveals high accuracy in classifying normal traffic and attack patterns.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3559320" y="2797560"/>
            <a:ext cx="5327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Error Analysis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1"/>
          <p:cNvSpPr/>
          <p:nvPr/>
        </p:nvSpPr>
        <p:spPr>
          <a:xfrm>
            <a:off x="3525120" y="3016800"/>
            <a:ext cx="53532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Identifies misclassifications where normal traffic was flagged as attacks or attacks went undetected.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2"/>
          <p:cNvSpPr/>
          <p:nvPr/>
        </p:nvSpPr>
        <p:spPr>
          <a:xfrm>
            <a:off x="3888000" y="3675240"/>
            <a:ext cx="499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Security Implications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3"/>
          <p:cNvSpPr/>
          <p:nvPr/>
        </p:nvSpPr>
        <p:spPr>
          <a:xfrm>
            <a:off x="3888000" y="3894840"/>
            <a:ext cx="49906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False negatives represent security risks while false positives may cause operational disruptions.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1940760" y="308160"/>
            <a:ext cx="4214160" cy="359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 flipV="1">
            <a:off x="108720" y="75960"/>
            <a:ext cx="8925120" cy="4986720"/>
          </a:xfrm>
          <a:custGeom>
            <a:avLst/>
            <a:gdLst>
              <a:gd name="textAreaLeft" fmla="*/ 0 w 8925120"/>
              <a:gd name="textAreaRight" fmla="*/ 8926200 w 8925120"/>
              <a:gd name="textAreaTop" fmla="*/ 720 h 4986720"/>
              <a:gd name="textAreaBottom" fmla="*/ 4988520 h 4986720"/>
            </a:gdLst>
            <a:ahLst/>
            <a:cxnLst/>
            <a:rect l="textAreaLeft" t="textAreaTop" r="textAreaRight" b="textAreaBottom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608400" y="123480"/>
            <a:ext cx="8004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2020" strike="noStrike" u="none">
                <a:solidFill>
                  <a:srgbClr val="0a0237"/>
                </a:solidFill>
                <a:effectLst/>
                <a:uFillTx/>
                <a:latin typeface="Noto Sans"/>
                <a:ea typeface="Noto Sans"/>
              </a:rPr>
              <a:t>Top Predictive Features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0" descr="preencoded.png"/>
          <p:cNvPicPr/>
          <p:nvPr/>
        </p:nvPicPr>
        <p:blipFill>
          <a:blip r:embed="rId2"/>
          <a:stretch/>
        </p:blipFill>
        <p:spPr>
          <a:xfrm>
            <a:off x="279000" y="3466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Image 1" descr="preencoded.png"/>
          <p:cNvPicPr/>
          <p:nvPr/>
        </p:nvPicPr>
        <p:blipFill>
          <a:blip r:embed="rId3"/>
          <a:stretch/>
        </p:blipFill>
        <p:spPr>
          <a:xfrm>
            <a:off x="388800" y="2368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Image 2" descr="https://oceandoc-ai.obs.ap-southeast-3.myhuaweicloud.com:443/image_1765014279526_FjSY7v.jpg"/>
          <p:cNvSpPr/>
          <p:nvPr/>
        </p:nvSpPr>
        <p:spPr>
          <a:xfrm>
            <a:off x="576360" y="1152720"/>
            <a:ext cx="1321560" cy="132156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Image 3" descr="https://oceandoc-ai.obs.ap-southeast-3.myhuaweicloud.com:443/image_1765014283358_K9Am8w.jpg"/>
          <p:cNvSpPr/>
          <p:nvPr/>
        </p:nvSpPr>
        <p:spPr>
          <a:xfrm>
            <a:off x="2799000" y="1152720"/>
            <a:ext cx="1321560" cy="132156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Image 4" descr="https://oceandoc-ai.obs.ap-southeast-3.myhuaweicloud.com:443/image_1765014286689_b37Exp.jpg"/>
          <p:cNvSpPr/>
          <p:nvPr/>
        </p:nvSpPr>
        <p:spPr>
          <a:xfrm>
            <a:off x="5022000" y="1152720"/>
            <a:ext cx="1321560" cy="1321560"/>
          </a:xfrm>
          <a:prstGeom prst="ellipse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Image 5" descr="https://oceandoc-ai.obs.ap-southeast-3.myhuaweicloud.com:443/image_1765014289451_CiOXPw.jpg"/>
          <p:cNvSpPr/>
          <p:nvPr/>
        </p:nvSpPr>
        <p:spPr>
          <a:xfrm>
            <a:off x="7245000" y="1152720"/>
            <a:ext cx="1321560" cy="1321560"/>
          </a:xfrm>
          <a:prstGeom prst="ellipse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393480" y="1631520"/>
            <a:ext cx="364680" cy="364680"/>
          </a:xfrm>
          <a:custGeom>
            <a:avLst/>
            <a:gdLst>
              <a:gd name="textAreaLeft" fmla="*/ 0 w 364680"/>
              <a:gd name="textAreaRight" fmla="*/ 365760 w 364680"/>
              <a:gd name="textAreaTop" fmla="*/ 0 h 364680"/>
              <a:gd name="textAreaBottom" fmla="*/ 365760 h 364680"/>
            </a:gdLst>
            <a:ahLst/>
            <a:cxnLst/>
            <a:rect l="textAreaLeft" t="textAreaTop" r="textAreaRight" b="textAreaBottom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331560" y="1585800"/>
            <a:ext cx="488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1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2616120" y="1631520"/>
            <a:ext cx="364680" cy="364680"/>
          </a:xfrm>
          <a:custGeom>
            <a:avLst/>
            <a:gdLst>
              <a:gd name="textAreaLeft" fmla="*/ 0 w 364680"/>
              <a:gd name="textAreaRight" fmla="*/ 365760 w 364680"/>
              <a:gd name="textAreaTop" fmla="*/ 0 h 364680"/>
              <a:gd name="textAreaBottom" fmla="*/ 365760 h 364680"/>
            </a:gdLst>
            <a:ahLst/>
            <a:cxnLst/>
            <a:rect l="textAreaLeft" t="textAreaTop" r="textAreaRight" b="textAreaBottom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2554560" y="1585800"/>
            <a:ext cx="488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2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4839120" y="1631520"/>
            <a:ext cx="364680" cy="364680"/>
          </a:xfrm>
          <a:custGeom>
            <a:avLst/>
            <a:gdLst>
              <a:gd name="textAreaLeft" fmla="*/ 0 w 364680"/>
              <a:gd name="textAreaRight" fmla="*/ 365760 w 364680"/>
              <a:gd name="textAreaTop" fmla="*/ 0 h 364680"/>
              <a:gd name="textAreaBottom" fmla="*/ 365760 h 364680"/>
            </a:gdLst>
            <a:ahLst/>
            <a:cxnLst/>
            <a:rect l="textAreaLeft" t="textAreaTop" r="textAreaRight" b="textAreaBottom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4777560" y="1585800"/>
            <a:ext cx="488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7062120" y="1631520"/>
            <a:ext cx="364680" cy="364680"/>
          </a:xfrm>
          <a:custGeom>
            <a:avLst/>
            <a:gdLst>
              <a:gd name="textAreaLeft" fmla="*/ 0 w 364680"/>
              <a:gd name="textAreaRight" fmla="*/ 365760 w 364680"/>
              <a:gd name="textAreaTop" fmla="*/ 0 h 364680"/>
              <a:gd name="textAreaBottom" fmla="*/ 365760 h 364680"/>
            </a:gdLst>
            <a:ahLst/>
            <a:cxnLst/>
            <a:rect l="textAreaLeft" t="textAreaTop" r="textAreaRight" b="textAreaBottom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7000560" y="1585800"/>
            <a:ext cx="488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44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4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279360" y="2697480"/>
            <a:ext cx="19152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Feature Importance Analysis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279360" y="3123360"/>
            <a:ext cx="1915200" cy="14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Key network attributes that best predict cyber attacks, identified through machine learning.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2502360" y="2697480"/>
            <a:ext cx="19152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196ff"/>
                </a:solidFill>
                <a:effectLst/>
                <a:uFillTx/>
                <a:latin typeface="Noto Sans"/>
                <a:ea typeface="Noto Sans"/>
              </a:rPr>
              <a:t>Top 15 Features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2502360" y="3123360"/>
            <a:ext cx="1915200" cy="14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Random Forest algorithm revealed most significant indicators for detecting malicious network traffic.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4725360" y="2697480"/>
            <a:ext cx="19152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049d5"/>
                </a:solidFill>
                <a:effectLst/>
                <a:uFillTx/>
                <a:latin typeface="Noto Sans"/>
                <a:ea typeface="Noto Sans"/>
              </a:rPr>
              <a:t>Practical Applications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4725360" y="3123360"/>
            <a:ext cx="1915200" cy="14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These features enable efficient threat detection and prioritization of security monitoring efforts.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6948360" y="2697480"/>
            <a:ext cx="19152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ctr">
            <a:no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1300" strike="noStrike" u="none">
                <a:solidFill>
                  <a:srgbClr val="5196ff"/>
                </a:solidFill>
                <a:effectLst/>
                <a:uFillTx/>
                <a:latin typeface="Noto Sans"/>
                <a:ea typeface="Noto Sans"/>
              </a:rPr>
              <a:t>Technical Significance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6948360" y="3123360"/>
            <a:ext cx="1915200" cy="14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00000"/>
              </a:lnSpc>
              <a:spcBef>
                <a:spcPts val="374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Understanding these indicators helps security teams focus resources on most relevant network attributes.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0"/>
          <p:cNvSpPr/>
          <p:nvPr/>
        </p:nvSpPr>
        <p:spPr>
          <a:xfrm>
            <a:off x="2415240" y="1666800"/>
            <a:ext cx="4312080" cy="11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95400" tIns="95400" bIns="95400" anchor="t">
            <a:spAutoFit/>
          </a:bodyPr>
          <a:p>
            <a:pPr algn="ctr" defTabSz="914400">
              <a:lnSpc>
                <a:spcPct val="112000"/>
              </a:lnSpc>
              <a:spcBef>
                <a:spcPts val="374"/>
              </a:spcBef>
              <a:tabLst>
                <a:tab algn="l" pos="0"/>
              </a:tabLst>
            </a:pPr>
            <a:r>
              <a:rPr b="1" lang="en-US" sz="5040" strike="noStrike" u="none">
                <a:solidFill>
                  <a:srgbClr val="002d96"/>
                </a:solidFill>
                <a:effectLst/>
                <a:uFillTx/>
                <a:latin typeface="Noto Sans"/>
                <a:ea typeface="Noto Sans"/>
              </a:rPr>
              <a:t>Thanks</a:t>
            </a:r>
            <a:r>
              <a:rPr b="1" lang="zh-CN" sz="5040" strike="noStrike" u="none">
                <a:solidFill>
                  <a:srgbClr val="002d96"/>
                </a:solidFill>
                <a:effectLst/>
                <a:uFillTx/>
                <a:latin typeface="Noto Sans"/>
                <a:ea typeface="Noto Sans"/>
              </a:rPr>
              <a:t>！</a:t>
            </a:r>
            <a:endParaRPr b="0" lang="en-US" sz="5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LibreOffice/25.8.2.2$Linux_X86_64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2025-12-06T09:45:48Z</dcterms:created>
  <dc:creator>PptxGenJS</dc:creator>
  <dc:description/>
  <dc:language>en-US</dc:language>
  <cp:lastModifiedBy/>
  <dcterms:modified xsi:type="dcterms:W3CDTF">2025-12-15T11:21:23Z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